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5" r:id="rId10"/>
    <p:sldId id="264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D38587-85FD-4703-8170-3504668D32D7}">
  <a:tblStyle styleId="{F5D38587-85FD-4703-8170-3504668D32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ac4072d1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f9ac4072d1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ac4072d1_2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f9ac4072d1_2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ac4072d1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f9ac4072d1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9ac4072d1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f9ac4072d1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ac4072d1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f9ac4072d1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ac4072d1_2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f9ac4072d1_2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hyperlink" Target="mailto:riyasinghal618@gmail.com" TargetMode="External"/><Relationship Id="rId5" Type="http://schemas.openxmlformats.org/officeDocument/2006/relationships/hyperlink" Target="mailto:riyanshi.verma.cseds.2023@miet.ac.in" TargetMode="Externa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1875075" y="1153575"/>
            <a:ext cx="3438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Vocalis AI</a:t>
            </a:r>
            <a:endParaRPr sz="2100" b="1">
              <a:solidFill>
                <a:schemeClr val="dk1"/>
              </a:solidFill>
            </a:endParaRPr>
          </a:p>
        </p:txBody>
      </p:sp>
      <p:pic>
        <p:nvPicPr>
          <p:cNvPr id="133" name="Google Shape;133;p25" title="e56e6cfd-7493-4488-941f-befe2bd01715 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3348470" y="1584780"/>
            <a:ext cx="269758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 err="1">
                <a:solidFill>
                  <a:schemeClr val="dk1"/>
                </a:solidFill>
              </a:rPr>
              <a:t>SheBuilds</a:t>
            </a:r>
            <a:endParaRPr sz="4000" b="1" dirty="0">
              <a:solidFill>
                <a:schemeClr val="dk1"/>
              </a:solidFill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3630450" y="2402292"/>
            <a:ext cx="1883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</a:rPr>
              <a:t>Round: II</a:t>
            </a:r>
            <a:endParaRPr sz="3000" b="1" i="1">
              <a:solidFill>
                <a:schemeClr val="dk1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2548950" y="2842881"/>
            <a:ext cx="37857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i="1">
                <a:solidFill>
                  <a:srgbClr val="3C9EFF"/>
                </a:solidFill>
              </a:rPr>
              <a:t>IDEA SUBMISSION</a:t>
            </a:r>
            <a:endParaRPr sz="3100" b="1" i="1">
              <a:solidFill>
                <a:srgbClr val="3C9E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endParaRPr/>
          </a:p>
        </p:txBody>
      </p:sp>
      <p:pic>
        <p:nvPicPr>
          <p:cNvPr id="143" name="Google Shape;143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 title="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874125" y="1268025"/>
            <a:ext cx="2229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96E9"/>
                </a:solidFill>
              </a:rPr>
              <a:t>Team Details:</a:t>
            </a:r>
            <a:endParaRPr sz="2800" b="1">
              <a:solidFill>
                <a:srgbClr val="4396E9"/>
              </a:solidFill>
            </a:endParaRPr>
          </a:p>
        </p:txBody>
      </p:sp>
      <p:graphicFrame>
        <p:nvGraphicFramePr>
          <p:cNvPr id="146" name="Google Shape;146;p26"/>
          <p:cNvGraphicFramePr/>
          <p:nvPr>
            <p:extLst>
              <p:ext uri="{D42A27DB-BD31-4B8C-83A1-F6EECF244321}">
                <p14:modId xmlns:p14="http://schemas.microsoft.com/office/powerpoint/2010/main" val="2859208890"/>
              </p:ext>
            </p:extLst>
          </p:nvPr>
        </p:nvGraphicFramePr>
        <p:xfrm>
          <a:off x="1042870" y="1946050"/>
          <a:ext cx="7276780" cy="1097190"/>
        </p:xfrm>
        <a:graphic>
          <a:graphicData uri="http://schemas.openxmlformats.org/drawingml/2006/table">
            <a:tbl>
              <a:tblPr>
                <a:noFill/>
                <a:tableStyleId>{F5D38587-85FD-4703-8170-3504668D32D7}</a:tableStyleId>
              </a:tblPr>
              <a:tblGrid>
                <a:gridCol w="690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1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0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23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S.No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 Member Name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 Team Member Role</a:t>
                      </a:r>
                      <a:endParaRPr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 Member Mail ID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03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dirty="0"/>
                        <a:t>Riyanshi</a:t>
                      </a:r>
                      <a:r>
                        <a:rPr lang="en-US" dirty="0"/>
                        <a:t> Verma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lang="en-US" dirty="0"/>
                        <a:t>Backend and APIs</a:t>
                      </a:r>
                      <a:endParaRPr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lang="en-IN" dirty="0">
                          <a:hlinkClick r:id="rId5"/>
                        </a:rPr>
                        <a:t>riyanshi.verma.cseds.2023@miet.ac.in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747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lang="en-US" dirty="0"/>
                        <a:t>Kanishka Verma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lang="en-US" dirty="0"/>
                        <a:t>Frontend</a:t>
                      </a:r>
                      <a:endParaRPr dirty="0"/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rPr lang="en-IN" dirty="0">
                          <a:hlinkClick r:id="rId6"/>
                        </a:rPr>
                        <a:t>kanishkav7456@gmail.com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endParaRPr/>
          </a:p>
        </p:txBody>
      </p:sp>
      <p:pic>
        <p:nvPicPr>
          <p:cNvPr id="152" name="Google Shape;152;p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 title="3 u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4224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 txBox="1"/>
          <p:nvPr/>
        </p:nvSpPr>
        <p:spPr>
          <a:xfrm>
            <a:off x="792075" y="1358575"/>
            <a:ext cx="4486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96E9"/>
                </a:solidFill>
              </a:rPr>
              <a:t>Track - Problem Statement:</a:t>
            </a:r>
            <a:endParaRPr sz="2400" b="1">
              <a:solidFill>
                <a:srgbClr val="4396E9"/>
              </a:solidFill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792075" y="2057510"/>
            <a:ext cx="5837591" cy="661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06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dirty="0"/>
              <a:t>Problem Statement:</a:t>
            </a:r>
            <a:br>
              <a:rPr lang="en-US" dirty="0"/>
            </a:br>
            <a:r>
              <a:rPr lang="en-US" sz="1700" dirty="0"/>
              <a:t>Coordinated AI Interview Panel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940970" y="2790108"/>
            <a:ext cx="6185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Chosen Track: </a:t>
            </a:r>
            <a:r>
              <a:rPr dirty="0" err="1"/>
              <a:t>EchoSphere</a:t>
            </a:r>
            <a:r>
              <a:rPr dirty="0"/>
              <a:t> Conversational AI &amp; Real-Time Voice Track</a:t>
            </a:r>
            <a:endParaRPr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Solution Focus: Reclaiming Senior Engineering Velocity via Low-Latency Multi-Agent Voice Committees</a:t>
            </a:r>
            <a:endParaRPr sz="1200" i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 title="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/>
          <p:nvPr/>
        </p:nvSpPr>
        <p:spPr>
          <a:xfrm>
            <a:off x="779550" y="1371100"/>
            <a:ext cx="338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96E9"/>
                </a:solidFill>
              </a:rPr>
              <a:t>Problem Description:</a:t>
            </a:r>
            <a:endParaRPr sz="2400" b="1">
              <a:solidFill>
                <a:srgbClr val="4396E9"/>
              </a:solidFill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779550" y="2033965"/>
            <a:ext cx="68805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 sz="1300">
                <a:latin typeface="Arial"/>
              </a:defRPr>
            </a:pPr>
            <a:r>
              <a:rPr sz="1600" dirty="0"/>
              <a:t>Senior engineering hiring is a multi-billion dollar enterprise bottleneck. Staff and Principal engineers lose 15–20% of their bandwidth conducting repetitive screens, costing over $1.2M annually per 100 hires in lost velocity. Existing single-prompt AI chatbots are flat, mono-perspective, suffer 1500ms+ latency, lack barge-in </a:t>
            </a:r>
            <a:r>
              <a:rPr sz="1600" dirty="0" err="1"/>
              <a:t>interruptibility</a:t>
            </a:r>
            <a:r>
              <a:rPr sz="1600" dirty="0"/>
              <a:t>, and fail to probe technical depth with auditable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/>
          <p:nvPr/>
        </p:nvSpPr>
        <p:spPr>
          <a:xfrm>
            <a:off x="1331000" y="918630"/>
            <a:ext cx="574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4396E9"/>
                </a:solidFill>
              </a:rPr>
              <a:t>Proposed Solution / Idea Overview: </a:t>
            </a:r>
            <a:endParaRPr sz="2400" b="1" dirty="0">
              <a:solidFill>
                <a:srgbClr val="4396E9"/>
              </a:solidFill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360680" y="1472730"/>
            <a:ext cx="8422640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  <a:defRPr sz="1200">
                <a:latin typeface="Arial"/>
              </a:defRPr>
            </a:pPr>
            <a:r>
              <a:rPr sz="1350" dirty="0"/>
              <a:t>Vocalis AI is an autonomous, multi-role voice interview committee powered by Agora Real-Time Voice (SD-RTN™) and multi-agent deliberation. Instead of a single chatbot, 4 specialized AI interviewers (Systems Architect, VP of Product, Engineering Director, Security Lead) deliberate backstage, negotiate turn-taking, and share a unified candidate memory bus.</a:t>
            </a:r>
          </a:p>
          <a:p>
            <a:pPr marL="171450" indent="-171450" algn="just">
              <a:buFont typeface="Wingdings" panose="05000000000000000000" pitchFamily="2" charset="2"/>
              <a:buChar char="Ø"/>
              <a:defRPr sz="1200">
                <a:latin typeface="Arial"/>
              </a:defRPr>
            </a:pPr>
            <a:endParaRPr sz="1350" dirty="0"/>
          </a:p>
          <a:p>
            <a:pPr marL="171450" indent="-171450" algn="just">
              <a:buFont typeface="Wingdings" panose="05000000000000000000" pitchFamily="2" charset="2"/>
              <a:buChar char="Ø"/>
              <a:defRPr sz="1200">
                <a:latin typeface="Arial"/>
              </a:defRPr>
            </a:pPr>
            <a:r>
              <a:rPr sz="1350" dirty="0"/>
              <a:t>Candidates experience studio-grade 48kHz audio with sub-100ms latency, 3D spatial audio positioning, and instant barge-in interruption detection. Vocalis dynamically calibrates interview depth—escalating to Staff-level edge cases for strong answers while providing structured scaffolding when needed. It delivers 100% evidence-based scorecards with verbatim transcript citations, reducing engineering effort by 80% and hiring costs by $1.2M+ per 100 hires with zero demographic bias.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 title="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0"/>
          <p:cNvSpPr txBox="1"/>
          <p:nvPr/>
        </p:nvSpPr>
        <p:spPr>
          <a:xfrm>
            <a:off x="1583595" y="883000"/>
            <a:ext cx="398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4396E9"/>
                </a:solidFill>
              </a:rPr>
              <a:t>Additional Notes: </a:t>
            </a:r>
            <a:endParaRPr sz="2400" b="1" dirty="0">
              <a:solidFill>
                <a:srgbClr val="4396E9"/>
              </a:solidFill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477520" y="1437100"/>
            <a:ext cx="8321040" cy="224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defRPr sz="1100">
                <a:latin typeface="Arial"/>
              </a:defRPr>
            </a:pPr>
            <a:r>
              <a:rPr sz="1500" b="1" u="sng" dirty="0"/>
              <a:t>Deep Agora Technologies Integration:</a:t>
            </a:r>
          </a:p>
          <a:p>
            <a:pPr marL="285750" indent="-285750" algn="just">
              <a:buFont typeface="Wingdings" panose="05000000000000000000" pitchFamily="2" charset="2"/>
              <a:buChar char="ü"/>
              <a:defRPr sz="1100">
                <a:latin typeface="Arial"/>
              </a:defRPr>
            </a:pPr>
            <a:r>
              <a:rPr sz="1300" dirty="0"/>
              <a:t>Agora Voice SDK &amp; SD-RTN™ Global Edge Mesh (&lt;100ms global latency, 80% packet loss resilience).</a:t>
            </a:r>
          </a:p>
          <a:p>
            <a:pPr marL="285750" indent="-285750" algn="just">
              <a:buFont typeface="Wingdings" panose="05000000000000000000" pitchFamily="2" charset="2"/>
              <a:buChar char="ü"/>
              <a:defRPr sz="1100">
                <a:latin typeface="Arial"/>
              </a:defRPr>
            </a:pPr>
            <a:r>
              <a:rPr sz="1300" dirty="0"/>
              <a:t>Agora Conversational AI: Voice Activity Detection (VAD) &amp; Echo Cancellation (AEC) for instant barge-in.</a:t>
            </a:r>
          </a:p>
          <a:p>
            <a:pPr marL="285750" indent="-285750" algn="just">
              <a:buFont typeface="Wingdings" panose="05000000000000000000" pitchFamily="2" charset="2"/>
              <a:buChar char="ü"/>
              <a:defRPr sz="1100">
                <a:latin typeface="Arial"/>
              </a:defRPr>
            </a:pPr>
            <a:r>
              <a:rPr sz="1300" dirty="0"/>
              <a:t>Agora Spatial Audio Engine: 3D positioning for distinct interviewer acoustics (Left, Center, Right).</a:t>
            </a:r>
          </a:p>
          <a:p>
            <a:pPr marL="285750" indent="-285750" algn="just">
              <a:buFont typeface="Wingdings" panose="05000000000000000000" pitchFamily="2" charset="2"/>
              <a:buChar char="ü"/>
              <a:defRPr sz="1100">
                <a:latin typeface="Arial"/>
              </a:defRPr>
            </a:pPr>
            <a:r>
              <a:rPr sz="1300" dirty="0"/>
              <a:t>Agora AI Noise Suppression (ANS) &amp; Quality Analytics (</a:t>
            </a:r>
            <a:r>
              <a:rPr sz="1300" dirty="0" err="1"/>
              <a:t>QoE</a:t>
            </a:r>
            <a:r>
              <a:rPr sz="1300" dirty="0"/>
              <a:t>) telemetry.</a:t>
            </a:r>
          </a:p>
          <a:p>
            <a:pPr algn="just">
              <a:defRPr sz="1100">
                <a:latin typeface="Arial"/>
              </a:defRPr>
            </a:pPr>
            <a:endParaRPr sz="1300" dirty="0"/>
          </a:p>
          <a:p>
            <a:pPr algn="just">
              <a:defRPr sz="1100">
                <a:latin typeface="Arial"/>
              </a:defRPr>
            </a:pPr>
            <a:r>
              <a:rPr sz="1500" b="1" u="sng" dirty="0"/>
              <a:t>Working Prototype &amp; Enterprise ROI:</a:t>
            </a:r>
          </a:p>
          <a:p>
            <a:pPr marL="285750" indent="-285750" algn="just">
              <a:buFont typeface="Wingdings" panose="05000000000000000000" pitchFamily="2" charset="2"/>
              <a:buChar char="ü"/>
              <a:defRPr sz="1100">
                <a:latin typeface="Arial"/>
              </a:defRPr>
            </a:pPr>
            <a:r>
              <a:rPr sz="1300" dirty="0"/>
              <a:t>Built and operational with React, TypeScript, and Bun server architecture.</a:t>
            </a:r>
          </a:p>
          <a:p>
            <a:pPr marL="285750" indent="-285750" algn="just">
              <a:buFont typeface="Wingdings" panose="05000000000000000000" pitchFamily="2" charset="2"/>
              <a:buChar char="ü"/>
              <a:defRPr sz="1100">
                <a:latin typeface="Arial"/>
              </a:defRPr>
            </a:pPr>
            <a:r>
              <a:rPr sz="1300" dirty="0"/>
              <a:t>Proven Business Metrics: 80% engineering hours saved, 3.8x faster time-to-offer, $1.2M+ annual cost savings per 100 hires.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82;p30" title="1.jpg">
            <a:extLst>
              <a:ext uri="{FF2B5EF4-FFF2-40B4-BE49-F238E27FC236}">
                <a16:creationId xmlns:a16="http://schemas.microsoft.com/office/drawing/2014/main" id="{861D2556-398F-40AD-0612-5882F9519B0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097280" y="805470"/>
            <a:ext cx="674188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latin typeface="Arial"/>
              </a:defRPr>
            </a:pPr>
            <a:r>
              <a:rPr sz="230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Technical Architecture &amp; Multi-Agent Pipeline: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413" y="1236357"/>
            <a:ext cx="8055788" cy="2854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latin typeface="Arial"/>
              </a:defRPr>
            </a:pPr>
            <a:r>
              <a:rPr sz="1300" b="1" u="sng" dirty="0"/>
              <a:t>Candidate Client Ingress Loop (&lt;30ms):</a:t>
            </a:r>
          </a:p>
          <a:p>
            <a:pPr marL="171450" indent="-171450">
              <a:buFont typeface="Wingdings" panose="05000000000000000000" pitchFamily="2" charset="2"/>
              <a:buChar char="Ø"/>
              <a:defRPr sz="1150">
                <a:latin typeface="Arial"/>
              </a:defRPr>
            </a:pPr>
            <a:r>
              <a:rPr sz="1150" dirty="0"/>
              <a:t>Bidirectional WebRTC audio streaming captures studio-grade 48kHz Opus mic input.</a:t>
            </a:r>
          </a:p>
          <a:p>
            <a:pPr marL="171450" indent="-171450">
              <a:buFont typeface="Wingdings" panose="05000000000000000000" pitchFamily="2" charset="2"/>
              <a:buChar char="Ø"/>
              <a:defRPr sz="1150">
                <a:latin typeface="Arial"/>
              </a:defRPr>
            </a:pPr>
            <a:r>
              <a:rPr sz="1150" dirty="0"/>
              <a:t>Client-side Voice Activity Detection (VAD) handles real-time speech boundary triggers.</a:t>
            </a:r>
          </a:p>
          <a:p>
            <a:pPr>
              <a:defRPr sz="1150">
                <a:latin typeface="Arial"/>
              </a:defRPr>
            </a:pPr>
            <a:endParaRPr sz="800" dirty="0"/>
          </a:p>
          <a:p>
            <a:pPr>
              <a:defRPr sz="1150">
                <a:latin typeface="Arial"/>
              </a:defRPr>
            </a:pPr>
            <a:r>
              <a:rPr sz="1300" b="1" u="sng" dirty="0"/>
              <a:t>Agora SD-RTN™ &amp; Conversational AI Core (&lt;50ms):</a:t>
            </a:r>
          </a:p>
          <a:p>
            <a:pPr marL="171450" indent="-171450">
              <a:buFont typeface="Wingdings" panose="05000000000000000000" pitchFamily="2" charset="2"/>
              <a:buChar char="Ø"/>
              <a:defRPr sz="1150">
                <a:latin typeface="Arial"/>
              </a:defRPr>
            </a:pPr>
            <a:r>
              <a:rPr sz="1150" dirty="0"/>
              <a:t> Software-Defined Real-Time Network guarantees &lt;100ms global latency and 80% packet loss resilience.</a:t>
            </a:r>
          </a:p>
          <a:p>
            <a:pPr marL="171450" indent="-171450" algn="just">
              <a:buFont typeface="Wingdings" panose="05000000000000000000" pitchFamily="2" charset="2"/>
              <a:buChar char="Ø"/>
              <a:defRPr sz="1150">
                <a:latin typeface="Arial"/>
              </a:defRPr>
            </a:pPr>
            <a:r>
              <a:rPr sz="1150" dirty="0"/>
              <a:t> Acoustic Echo Cancellation (AEC) and Deep AI Noise Suppression (ANS) filter room echo &amp; keyboard clicks.</a:t>
            </a:r>
          </a:p>
          <a:p>
            <a:pPr marL="171450" indent="-171450">
              <a:buFont typeface="Wingdings" panose="05000000000000000000" pitchFamily="2" charset="2"/>
              <a:buChar char="Ø"/>
              <a:defRPr sz="1150">
                <a:latin typeface="Arial"/>
              </a:defRPr>
            </a:pPr>
            <a:r>
              <a:rPr sz="1150" dirty="0"/>
              <a:t> Instant sub-150ms barge-in interruption detection pauses AI playback naturally when candidate speaks.</a:t>
            </a:r>
          </a:p>
          <a:p>
            <a:pPr>
              <a:defRPr sz="1150">
                <a:latin typeface="Arial"/>
              </a:defRPr>
            </a:pPr>
            <a:endParaRPr sz="800" dirty="0"/>
          </a:p>
          <a:p>
            <a:pPr>
              <a:defRPr sz="1150">
                <a:latin typeface="Arial"/>
              </a:defRPr>
            </a:pPr>
            <a:r>
              <a:rPr sz="1300" b="1" u="sng" dirty="0"/>
              <a:t>Backstage Committee Arbitrator (&lt;60ms):</a:t>
            </a:r>
          </a:p>
          <a:p>
            <a:pPr marL="171450" indent="-171450">
              <a:buFont typeface="Wingdings" panose="05000000000000000000" pitchFamily="2" charset="2"/>
              <a:buChar char="Ø"/>
              <a:defRPr sz="1150">
                <a:latin typeface="Arial"/>
              </a:defRPr>
            </a:pPr>
            <a:r>
              <a:rPr sz="1150" dirty="0"/>
              <a:t>Multi-agent orchestrator evaluates candidate response depth and picks the optimal interviewer persona</a:t>
            </a:r>
          </a:p>
          <a:p>
            <a:pPr>
              <a:defRPr sz="1150">
                <a:latin typeface="Arial"/>
              </a:defRPr>
            </a:pPr>
            <a:r>
              <a:rPr sz="1150" dirty="0"/>
              <a:t>    (Marcus Vance - Systems, Elena Rostova - Product, David Chen - Eng Dir, Aria Thorne - Security) to probe.</a:t>
            </a:r>
          </a:p>
          <a:p>
            <a:pPr>
              <a:defRPr sz="1150">
                <a:latin typeface="Arial"/>
              </a:defRPr>
            </a:pPr>
            <a:endParaRPr sz="800" b="1" u="sng" dirty="0"/>
          </a:p>
          <a:p>
            <a:pPr>
              <a:defRPr sz="1150">
                <a:latin typeface="Arial"/>
              </a:defRPr>
            </a:pPr>
            <a:r>
              <a:rPr sz="1300" b="1" u="sng" dirty="0"/>
              <a:t>Shared Candidate Memory Bus &amp; Scorecard Engine:</a:t>
            </a:r>
          </a:p>
          <a:p>
            <a:pPr marL="171450" indent="-171450">
              <a:buFont typeface="Wingdings" panose="05000000000000000000" pitchFamily="2" charset="2"/>
              <a:buChar char="Ø"/>
              <a:defRPr sz="1150">
                <a:latin typeface="Arial"/>
              </a:defRPr>
            </a:pPr>
            <a:r>
              <a:rPr sz="1150" dirty="0"/>
              <a:t>Centralized context bus tracks resume metrics, prior Q&amp;A claims, technical gaps, and contradiction detection.</a:t>
            </a:r>
          </a:p>
          <a:p>
            <a:pPr marL="171450" indent="-171450">
              <a:buFont typeface="Wingdings" panose="05000000000000000000" pitchFamily="2" charset="2"/>
              <a:buChar char="Ø"/>
              <a:defRPr sz="1150">
                <a:latin typeface="Arial"/>
              </a:defRPr>
            </a:pPr>
            <a:r>
              <a:rPr sz="1150" dirty="0"/>
              <a:t>Generates 100% evidence-based consensus scorecards with verbatim transcript quote citations.</a:t>
            </a:r>
          </a:p>
        </p:txBody>
      </p:sp>
    </p:spTree>
    <p:extLst>
      <p:ext uri="{BB962C8B-B14F-4D97-AF65-F5344CB8AC3E}">
        <p14:creationId xmlns:p14="http://schemas.microsoft.com/office/powerpoint/2010/main" val="190892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82;p30" title="1.jpg">
            <a:extLst>
              <a:ext uri="{FF2B5EF4-FFF2-40B4-BE49-F238E27FC236}">
                <a16:creationId xmlns:a16="http://schemas.microsoft.com/office/drawing/2014/main" id="{4DF44049-5C34-7A10-64A3-15EF924A44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4000" y="-213360"/>
            <a:ext cx="9580880" cy="551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vocalis_architecture_diagram.jpg">
            <a:extLst>
              <a:ext uri="{FF2B5EF4-FFF2-40B4-BE49-F238E27FC236}">
                <a16:creationId xmlns:a16="http://schemas.microsoft.com/office/drawing/2014/main" id="{172C360E-7BDC-97B9-9FA0-7B06DAEC5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824" y="799285"/>
            <a:ext cx="6565392" cy="369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73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82;p30" title="1.jpg">
            <a:extLst>
              <a:ext uri="{FF2B5EF4-FFF2-40B4-BE49-F238E27FC236}">
                <a16:creationId xmlns:a16="http://schemas.microsoft.com/office/drawing/2014/main" id="{25CD8341-A47E-BCCE-E4B1-E37E1A2E07F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236597" cy="527805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1416391" y="894668"/>
            <a:ext cx="6797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latin typeface="Arial"/>
              </a:defRPr>
            </a:pPr>
            <a:r>
              <a:rPr dirty="0"/>
              <a:t>Competitive Advantage &amp; Enterprise Impact ROI: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427" y="1417588"/>
            <a:ext cx="80437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50">
                <a:latin typeface="Arial"/>
              </a:defRPr>
            </a:pPr>
            <a:r>
              <a:rPr sz="1800" u="sng" dirty="0"/>
              <a:t>Differentiation Against Existing Alternatives:</a:t>
            </a:r>
          </a:p>
          <a:p>
            <a:pPr marL="171450" indent="-171450" algn="just">
              <a:buFont typeface="Wingdings" panose="05000000000000000000" pitchFamily="2" charset="2"/>
              <a:buChar char="ü"/>
              <a:defRPr sz="1150">
                <a:latin typeface="Arial"/>
              </a:defRPr>
            </a:pPr>
            <a:r>
              <a:rPr sz="1200" dirty="0"/>
              <a:t>Human Interview Panel: High cost ($150–$250/</a:t>
            </a:r>
            <a:r>
              <a:rPr sz="1200" dirty="0" err="1"/>
              <a:t>hr</a:t>
            </a:r>
            <a:r>
              <a:rPr sz="1200" dirty="0"/>
              <a:t> per engineer), severe fatigue, subjective delayed notes.</a:t>
            </a:r>
          </a:p>
          <a:p>
            <a:pPr marL="171450" indent="-171450" algn="just">
              <a:buFont typeface="Wingdings" panose="05000000000000000000" pitchFamily="2" charset="2"/>
              <a:buChar char="ü"/>
              <a:defRPr sz="1150">
                <a:latin typeface="Arial"/>
              </a:defRPr>
            </a:pPr>
            <a:r>
              <a:rPr sz="1200" dirty="0"/>
              <a:t>Generic Single-Prompt AI Bots: 1500–3000ms voice lag, flat persona, no barge-in, easily gamed by buzzwords.</a:t>
            </a:r>
          </a:p>
          <a:p>
            <a:pPr marL="171450" indent="-171450" algn="just">
              <a:buFont typeface="Wingdings" panose="05000000000000000000" pitchFamily="2" charset="2"/>
              <a:buChar char="ü"/>
              <a:defRPr sz="1150">
                <a:latin typeface="Arial"/>
              </a:defRPr>
            </a:pPr>
            <a:r>
              <a:rPr sz="1200" dirty="0"/>
              <a:t>Vocalis AI + Agora Stack: &lt;100ms SD-RTN streaming, 4 specialized deliberative personas, instant sub-150ms barge-in,</a:t>
            </a:r>
            <a:r>
              <a:rPr lang="en-US" sz="1200" dirty="0"/>
              <a:t> </a:t>
            </a:r>
            <a:r>
              <a:rPr sz="1200" dirty="0"/>
              <a:t>3D spatial audio positioning, 100% quote-backed scorecards, and &lt;$2 cost per 45-minute comprehensive round.</a:t>
            </a:r>
          </a:p>
          <a:p>
            <a:pPr algn="just">
              <a:defRPr sz="1150">
                <a:latin typeface="Arial"/>
              </a:defRPr>
            </a:pPr>
            <a:endParaRPr sz="1200" dirty="0"/>
          </a:p>
          <a:p>
            <a:pPr algn="just">
              <a:defRPr sz="1150">
                <a:latin typeface="Arial"/>
              </a:defRPr>
            </a:pPr>
            <a:r>
              <a:rPr sz="1800" b="1" u="sng" dirty="0"/>
              <a:t>Quantifiable Business Impact &amp; Metrics:</a:t>
            </a:r>
          </a:p>
          <a:p>
            <a:pPr marL="171450" indent="-171450" algn="just">
              <a:buFont typeface="Wingdings" panose="05000000000000000000" pitchFamily="2" charset="2"/>
              <a:buChar char="ü"/>
              <a:defRPr sz="1150">
                <a:latin typeface="Arial"/>
              </a:defRPr>
            </a:pPr>
            <a:r>
              <a:rPr lang="en-US" sz="1200" dirty="0"/>
              <a:t>8</a:t>
            </a:r>
            <a:r>
              <a:rPr sz="1200" dirty="0"/>
              <a:t>0% Engineering Bandwidth Saved: Reclaims hundreds of productive sprint hours for Staff and Principal engineers.</a:t>
            </a:r>
          </a:p>
          <a:p>
            <a:pPr marL="171450" indent="-171450" algn="just">
              <a:buFont typeface="Wingdings" panose="05000000000000000000" pitchFamily="2" charset="2"/>
              <a:buChar char="ü"/>
              <a:defRPr sz="1150">
                <a:latin typeface="Arial"/>
              </a:defRPr>
            </a:pPr>
            <a:r>
              <a:rPr lang="en-US" sz="1200" dirty="0"/>
              <a:t>3</a:t>
            </a:r>
            <a:r>
              <a:rPr sz="1200" dirty="0"/>
              <a:t>.8x Faster Time-to-Offer: 24/7 on-demand autonomous interviews eliminate recruiter scheduling bottlenecks.</a:t>
            </a:r>
          </a:p>
          <a:p>
            <a:pPr marL="171450" indent="-171450" algn="just">
              <a:buFont typeface="Wingdings" panose="05000000000000000000" pitchFamily="2" charset="2"/>
              <a:buChar char="ü"/>
              <a:defRPr sz="1150">
                <a:latin typeface="Arial"/>
              </a:defRPr>
            </a:pPr>
            <a:r>
              <a:rPr sz="1200" dirty="0"/>
              <a:t>$1.2M+ Annual Cost Reduction: Calculated on 100 senior technical hires @ $200/</a:t>
            </a:r>
            <a:r>
              <a:rPr sz="1200" dirty="0" err="1"/>
              <a:t>hr</a:t>
            </a:r>
            <a:r>
              <a:rPr sz="1200" dirty="0"/>
              <a:t> engineer opportunity cost.</a:t>
            </a:r>
          </a:p>
          <a:p>
            <a:pPr marL="171450" indent="-171450" algn="just">
              <a:buFont typeface="Wingdings" panose="05000000000000000000" pitchFamily="2" charset="2"/>
              <a:buChar char="ü"/>
              <a:defRPr sz="1150">
                <a:latin typeface="Arial"/>
              </a:defRPr>
            </a:pPr>
            <a:r>
              <a:rPr sz="1200" dirty="0"/>
              <a:t>100% Objective Calibration: Standardized, quote-backed evaluation rubrics with zero demographic bias.</a:t>
            </a:r>
          </a:p>
        </p:txBody>
      </p:sp>
    </p:spTree>
    <p:extLst>
      <p:ext uri="{BB962C8B-B14F-4D97-AF65-F5344CB8AC3E}">
        <p14:creationId xmlns:p14="http://schemas.microsoft.com/office/powerpoint/2010/main" val="580332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82;p30" title="1.jpg">
            <a:extLst>
              <a:ext uri="{FF2B5EF4-FFF2-40B4-BE49-F238E27FC236}">
                <a16:creationId xmlns:a16="http://schemas.microsoft.com/office/drawing/2014/main" id="{9C3B41B0-8258-B4CF-DACB-14B40B7A0DB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vocalis_committee_dashboard.jpg">
            <a:extLst>
              <a:ext uri="{FF2B5EF4-FFF2-40B4-BE49-F238E27FC236}">
                <a16:creationId xmlns:a16="http://schemas.microsoft.com/office/drawing/2014/main" id="{04DD47F8-5EC3-A836-C9C2-B7506E695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561" y="905837"/>
            <a:ext cx="6429828" cy="36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597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771</Words>
  <Application>Microsoft Office PowerPoint</Application>
  <PresentationFormat>On-screen Show (16:9)</PresentationFormat>
  <Paragraphs>65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Play</vt:lpstr>
      <vt:lpstr>Wingdings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Anand Kumar Verma</cp:lastModifiedBy>
  <cp:revision>8</cp:revision>
  <dcterms:modified xsi:type="dcterms:W3CDTF">2026-08-28T12:32:57Z</dcterms:modified>
</cp:coreProperties>
</file>